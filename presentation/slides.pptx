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3"/>
  </p:notesMasterIdLst>
  <p:handoutMasterIdLst>
    <p:handoutMasterId r:id="rId14"/>
  </p:handoutMasterIdLst>
  <p:sldIdLst>
    <p:sldId id="410" r:id="rId5"/>
    <p:sldId id="383" r:id="rId6"/>
    <p:sldId id="391" r:id="rId7"/>
    <p:sldId id="411" r:id="rId8"/>
    <p:sldId id="408" r:id="rId9"/>
    <p:sldId id="412" r:id="rId10"/>
    <p:sldId id="413" r:id="rId11"/>
    <p:sldId id="398" r:id="rId12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747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97" d="100"/>
          <a:sy n="97" d="100"/>
        </p:scale>
        <p:origin x="3618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E7829D4B-412A-499A-8D4F-B904ADB5D0BE}" type="datetime1">
              <a:rPr lang="fr-FR" smtClean="0"/>
              <a:t>21/04/2026</a:t>
            </a:fld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E2C230DF-5933-439D-898F-38E9AC9BA688}" type="slidenum">
              <a:rPr lang="fr-FR" smtClean="0"/>
              <a:t>‹#›</a:t>
            </a:fld>
            <a:endParaRPr lang="fr-FR" dirty="0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8" name="Espace réservé de l’en-tête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CCE360E1-1F2F-4ECC-8A8D-37670FD54F5F}" type="datetime1">
              <a:rPr lang="fr-FR" smtClean="0"/>
              <a:t>21/04/2026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A89C7E07-3C67-C64C-8DA0-0404F6303970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07A45-6BEB-1EE3-599F-2445D91E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85F1C9BF-1A53-E764-FFD3-F463220FE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04A9C87-0CA5-E466-52FE-81DF471C6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199154-30ED-D0A5-6659-2942053EA7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6092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4C7B6-06B9-CDA8-2212-611A2B0DD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E2389D0E-A258-C080-0645-90839C5393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C04703F5-127B-C597-4ECD-B3845AA23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F80BA56-2C8F-B4B3-C4C1-D60EF5AB6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71747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851EC-C796-019F-A46E-C19AD21A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473051F-A69A-E45A-0487-BDFBA26EC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A591396D-06BD-4991-3183-C15A3678B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A2334D-50C1-3098-F2A3-01624DAF4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08602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A89C7E07-3C67-C64C-8DA0-0404F6303970}" type="slidenum">
              <a:rPr lang="fr-FR" smtClean="0"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Forme automatique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8" name="Forme libre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9" name="Forme libre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2" name="Titre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 spc="50" baseline="0"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fr-FR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fr-FR" sz="2000"/>
            </a:lvl2pPr>
            <a:lvl3pPr indent="-283464">
              <a:spcBef>
                <a:spcPts val="1800"/>
              </a:spcBef>
              <a:defRPr lang="fr-FR" sz="2000"/>
            </a:lvl3pPr>
            <a:lvl4pPr indent="-283464">
              <a:spcBef>
                <a:spcPts val="1800"/>
              </a:spcBef>
              <a:defRPr lang="fr-FR" sz="2000"/>
            </a:lvl4pPr>
            <a:lvl5pPr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43" name="Espace réservé du numéro de diapositive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42" name="Espace réservé de la date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sec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’image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fr-FR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fr-FR"/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 dirty="0"/>
              <a:t>Cliquez sur l’icône pour ajouter une image</a:t>
            </a:r>
          </a:p>
        </p:txBody>
      </p:sp>
      <p:sp>
        <p:nvSpPr>
          <p:cNvPr id="18" name="Espace réservé du texte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fr-FR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fr-FR" sz="4000"/>
            </a:lvl2pPr>
            <a:lvl3pPr>
              <a:defRPr lang="fr-FR" sz="4000"/>
            </a:lvl3pPr>
            <a:lvl4pPr>
              <a:defRPr lang="fr-FR" sz="4000"/>
            </a:lvl4pPr>
            <a:lvl5pPr>
              <a:defRPr lang="fr-FR" sz="4000"/>
            </a:lvl5pPr>
          </a:lstStyle>
          <a:p>
            <a:pPr lvl="0" rtl="0"/>
            <a:r>
              <a:rPr lang="fr-FR"/>
              <a:t>Cliquer pour ajouter du texte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e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orme libre 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 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32" name="Titre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fr-FR" sz="2000"/>
            </a:lvl1pPr>
            <a:lvl2pPr indent="-283464">
              <a:spcBef>
                <a:spcPts val="1800"/>
              </a:spcBef>
              <a:defRPr lang="fr-FR" sz="2000"/>
            </a:lvl2pPr>
            <a:lvl3pPr indent="-283464">
              <a:spcBef>
                <a:spcPts val="1800"/>
              </a:spcBef>
              <a:defRPr lang="fr-FR" sz="2000"/>
            </a:lvl3pPr>
            <a:lvl4pPr indent="-283464">
              <a:spcBef>
                <a:spcPts val="1800"/>
              </a:spcBef>
              <a:defRPr lang="fr-FR" sz="2000"/>
            </a:lvl4pPr>
            <a:lvl5pPr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Espace réservé du texte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fr-FR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fr-FR" sz="4000"/>
            </a:lvl2pPr>
            <a:lvl3pPr>
              <a:defRPr lang="fr-FR" sz="4000"/>
            </a:lvl3pPr>
            <a:lvl4pPr>
              <a:defRPr lang="fr-FR" sz="4000"/>
            </a:lvl4pPr>
            <a:lvl5pPr>
              <a:defRPr lang="fr-FR" sz="4000"/>
            </a:lvl5pPr>
          </a:lstStyle>
          <a:p>
            <a:pPr lvl="0" rtl="0"/>
            <a:r>
              <a:rPr lang="fr-FR"/>
              <a:t>Cliquer pour ajouter du texte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deux contenus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orme libre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 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4" name="Forme libre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283464" indent="-283464">
              <a:spcBef>
                <a:spcPts val="1800"/>
              </a:spcBef>
              <a:defRPr lang="fr-FR" sz="2000"/>
            </a:lvl2pPr>
            <a:lvl3pPr marL="594360" indent="-283464">
              <a:spcBef>
                <a:spcPts val="1800"/>
              </a:spcBef>
              <a:defRPr lang="fr-FR" sz="2000"/>
            </a:lvl3pPr>
            <a:lvl4pPr marL="822960" indent="-283464">
              <a:spcBef>
                <a:spcPts val="1800"/>
              </a:spcBef>
              <a:defRPr lang="fr-FR" sz="2000"/>
            </a:lvl4pPr>
            <a:lvl5pPr marL="1005840"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3" name="Espace réservé du contenu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283464" indent="-283464">
              <a:spcBef>
                <a:spcPts val="1800"/>
              </a:spcBef>
              <a:defRPr lang="fr-FR" sz="2000"/>
            </a:lvl2pPr>
            <a:lvl3pPr marL="548640" indent="-283464">
              <a:spcBef>
                <a:spcPts val="1800"/>
              </a:spcBef>
              <a:defRPr lang="fr-FR" sz="2000"/>
            </a:lvl3pPr>
            <a:lvl4pPr marL="822960" indent="-283464">
              <a:spcBef>
                <a:spcPts val="1800"/>
              </a:spcBef>
              <a:defRPr lang="fr-FR" sz="2000"/>
            </a:lvl4pPr>
            <a:lvl5pPr marL="1005840"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Forme automatique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4" name="Forme libre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8" name="Forme libre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9" name="Forme libre 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Espace réservé du contenu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fr-FR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fr-FR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fr-FR" sz="2000"/>
            </a:lvl3pPr>
            <a:lvl4pPr marL="1371600" indent="0">
              <a:spcBef>
                <a:spcPts val="1800"/>
              </a:spcBef>
              <a:buFont typeface="+mj-lt"/>
              <a:buNone/>
              <a:defRPr lang="fr-FR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endParaRPr lang="fr-FR" dirty="0"/>
          </a:p>
        </p:txBody>
      </p:sp>
      <p:sp>
        <p:nvSpPr>
          <p:cNvPr id="2" name="Espace réservé du contenu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283464" indent="-283464">
              <a:spcBef>
                <a:spcPts val="1800"/>
              </a:spcBef>
              <a:defRPr lang="fr-FR" sz="2000"/>
            </a:lvl2pPr>
            <a:lvl3pPr marL="548640" indent="-283464">
              <a:spcBef>
                <a:spcPts val="1800"/>
              </a:spcBef>
              <a:defRPr lang="fr-FR" sz="2000"/>
            </a:lvl3pPr>
            <a:lvl4pPr marL="822960" indent="-283464">
              <a:spcBef>
                <a:spcPts val="1800"/>
              </a:spcBef>
              <a:defRPr lang="fr-FR" sz="2000"/>
            </a:lvl4pPr>
            <a:lvl5pPr marL="1005840"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3" name="Espace réservé du contenu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indent="-283464">
              <a:spcBef>
                <a:spcPts val="1800"/>
              </a:spcBef>
              <a:defRPr lang="fr-FR" sz="2000"/>
            </a:lvl2pPr>
            <a:lvl3pPr indent="-283464">
              <a:spcBef>
                <a:spcPts val="1800"/>
              </a:spcBef>
              <a:defRPr lang="fr-FR" sz="2000"/>
            </a:lvl3pPr>
            <a:lvl4pPr indent="-283464">
              <a:spcBef>
                <a:spcPts val="1800"/>
              </a:spcBef>
              <a:defRPr lang="fr-FR" sz="2000"/>
            </a:lvl4pPr>
            <a:lvl5pPr indent="-283464"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en-US"/>
              <a:t>Click icon to add picture</a:t>
            </a:r>
            <a:endParaRPr lang="fr-FR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, contenu et tablea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e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orme libre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5" name="Forme libre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7" name="Forme libre 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Espace réservé du contenu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fr-FR" sz="2000"/>
            </a:lvl1pPr>
            <a:lvl2pPr marL="457200" indent="0">
              <a:spcBef>
                <a:spcPts val="1800"/>
              </a:spcBef>
              <a:buNone/>
              <a:defRPr lang="fr-FR" sz="2000"/>
            </a:lvl2pPr>
            <a:lvl3pPr marL="914400" indent="0">
              <a:spcBef>
                <a:spcPts val="1800"/>
              </a:spcBef>
              <a:buNone/>
              <a:defRPr lang="fr-FR" sz="2000"/>
            </a:lvl3pPr>
            <a:lvl4pPr marL="1371600" indent="0">
              <a:spcBef>
                <a:spcPts val="1800"/>
              </a:spcBef>
              <a:buNone/>
              <a:defRPr lang="fr-FR" sz="2000"/>
            </a:lvl4pPr>
            <a:lvl5pPr marL="1828800" indent="0">
              <a:spcBef>
                <a:spcPts val="1800"/>
              </a:spcBef>
              <a:buNone/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fr-FR" sz="2000"/>
            </a:lvl1pPr>
            <a:lvl2pPr>
              <a:spcBef>
                <a:spcPts val="600"/>
              </a:spcBef>
              <a:defRPr lang="fr-FR" sz="2000"/>
            </a:lvl2pPr>
            <a:lvl3pPr>
              <a:spcBef>
                <a:spcPts val="1800"/>
              </a:spcBef>
              <a:defRPr lang="fr-FR" sz="2000"/>
            </a:lvl3pPr>
            <a:lvl4pPr>
              <a:spcBef>
                <a:spcPts val="1800"/>
              </a:spcBef>
              <a:defRPr lang="fr-FR" sz="2000"/>
            </a:lvl4pPr>
            <a:lvl5pPr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deux contenu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orme libre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3" name="Forme libre 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4" name="Forme libre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fr-FR" sz="2000"/>
            </a:lvl1pPr>
            <a:lvl2pPr>
              <a:spcBef>
                <a:spcPts val="600"/>
              </a:spcBef>
              <a:defRPr lang="fr-FR" sz="2000"/>
            </a:lvl2pPr>
            <a:lvl3pPr>
              <a:spcBef>
                <a:spcPts val="1800"/>
              </a:spcBef>
              <a:defRPr lang="fr-FR" sz="2000"/>
            </a:lvl3pPr>
            <a:lvl4pPr>
              <a:spcBef>
                <a:spcPts val="1800"/>
              </a:spcBef>
              <a:defRPr lang="fr-FR" sz="2000"/>
            </a:lvl4pPr>
            <a:lvl5pPr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7" name="Espace réservé du contenu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fr-FR" sz="2000"/>
            </a:lvl1pPr>
            <a:lvl2pPr>
              <a:spcBef>
                <a:spcPts val="1800"/>
              </a:spcBef>
              <a:defRPr lang="fr-FR" sz="2000"/>
            </a:lvl2pPr>
            <a:lvl3pPr>
              <a:spcBef>
                <a:spcPts val="1800"/>
              </a:spcBef>
              <a:defRPr lang="fr-FR" sz="2000"/>
            </a:lvl3pPr>
            <a:lvl4pPr>
              <a:spcBef>
                <a:spcPts val="1800"/>
              </a:spcBef>
              <a:defRPr lang="fr-FR" sz="2000"/>
            </a:lvl4pPr>
            <a:lvl5pPr>
              <a:spcBef>
                <a:spcPts val="1800"/>
              </a:spcBef>
              <a:defRPr lang="fr-FR" sz="2000"/>
            </a:lvl5pPr>
          </a:lstStyle>
          <a:p>
            <a:pPr lvl="0" rtl="0"/>
            <a:r>
              <a:rPr lang="fr-FR"/>
              <a:t>Cliquer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 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fr-FR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sp>
        <p:nvSpPr>
          <p:cNvPr id="9" name="Espace réservé du tableau 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fr-FR"/>
            </a:lvl1pPr>
          </a:lstStyle>
          <a:p>
            <a:pPr rtl="0"/>
            <a:r>
              <a:rPr lang="en-US"/>
              <a:t>Click icon to add table</a:t>
            </a:r>
            <a:endParaRPr lang="fr-FR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>
              <a:latin typeface="+mn-lt"/>
            </a:endParaRPr>
          </a:p>
        </p:txBody>
      </p:sp>
      <p:sp>
        <p:nvSpPr>
          <p:cNvPr id="8" name="Espace réservé de la date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>
              <a:latin typeface="+mn-lt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fr-FR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fr-FR"/>
              <a:t>Cliquez pour ajouter un titre 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orme libre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 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2" name="Forme libre 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8" name="Espace réservé du texte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fr-FR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fr-FR" sz="4000"/>
            </a:lvl2pPr>
            <a:lvl3pPr>
              <a:defRPr lang="fr-FR" sz="4000"/>
            </a:lvl3pPr>
            <a:lvl4pPr>
              <a:defRPr lang="fr-FR" sz="4000"/>
            </a:lvl4pPr>
            <a:lvl5pPr>
              <a:defRPr lang="fr-FR" sz="4000"/>
            </a:lvl5pPr>
          </a:lstStyle>
          <a:p>
            <a:pPr lvl="0" rtl="0"/>
            <a:r>
              <a:rPr lang="fr-FR"/>
              <a:t>Cliquer pour ajouter du texte</a:t>
            </a: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2" name="Espace réservé du titre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30" name="Espace réservé de la date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fr-FR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fr-FR" dirty="0">
              <a:latin typeface="+mn-lt"/>
            </a:endParaRPr>
          </a:p>
        </p:txBody>
      </p:sp>
      <p:sp>
        <p:nvSpPr>
          <p:cNvPr id="32" name="Espace réservé du numéro de diapositive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fr-FR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fr-FR" smtClean="0"/>
              <a:pPr rtl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fr-FR"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lang="fr-FR">
          <a:solidFill>
            <a:schemeClr val="tx2"/>
          </a:solidFill>
        </a:defRPr>
      </a:lvl2pPr>
      <a:lvl3pPr eaLnBrk="1" hangingPunct="1">
        <a:defRPr lang="fr-FR">
          <a:solidFill>
            <a:schemeClr val="tx2"/>
          </a:solidFill>
        </a:defRPr>
      </a:lvl3pPr>
      <a:lvl4pPr eaLnBrk="1" hangingPunct="1">
        <a:defRPr lang="fr-FR">
          <a:solidFill>
            <a:schemeClr val="tx2"/>
          </a:solidFill>
        </a:defRPr>
      </a:lvl4pPr>
      <a:lvl5pPr eaLnBrk="1" hangingPunct="1">
        <a:defRPr lang="fr-FR">
          <a:solidFill>
            <a:schemeClr val="tx2"/>
          </a:solidFill>
        </a:defRPr>
      </a:lvl5pPr>
      <a:lvl6pPr eaLnBrk="1" hangingPunct="1">
        <a:defRPr lang="fr-FR">
          <a:solidFill>
            <a:schemeClr val="tx2"/>
          </a:solidFill>
        </a:defRPr>
      </a:lvl6pPr>
      <a:lvl7pPr eaLnBrk="1" hangingPunct="1">
        <a:defRPr lang="fr-FR">
          <a:solidFill>
            <a:schemeClr val="tx2"/>
          </a:solidFill>
        </a:defRPr>
      </a:lvl7pPr>
      <a:lvl8pPr eaLnBrk="1" hangingPunct="1">
        <a:defRPr lang="fr-FR">
          <a:solidFill>
            <a:schemeClr val="tx2"/>
          </a:solidFill>
        </a:defRPr>
      </a:lvl8pPr>
      <a:lvl9pPr eaLnBrk="1" hangingPunct="1">
        <a:defRPr lang="fr-FR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fr-FR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394227"/>
            <a:ext cx="5486400" cy="3291840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sz="4000" dirty="0"/>
              <a:t>Final Project: Compare &amp; </a:t>
            </a:r>
            <a:r>
              <a:rPr lang="fr-FR" sz="4000" dirty="0" err="1"/>
              <a:t>Contrast</a:t>
            </a:r>
            <a:r>
              <a:rPr lang="fr-FR" sz="4000" dirty="0"/>
              <a:t> — Dual </a:t>
            </a:r>
            <a:r>
              <a:rPr lang="fr-FR" sz="4000" dirty="0" err="1"/>
              <a:t>Implementation</a:t>
            </a:r>
            <a:r>
              <a:rPr lang="fr-FR" sz="4000" dirty="0"/>
              <a:t> of an </a:t>
            </a:r>
            <a:r>
              <a:rPr lang="fr-FR" sz="4000" dirty="0" err="1"/>
              <a:t>Expense</a:t>
            </a:r>
            <a:r>
              <a:rPr lang="fr-FR" sz="4000" dirty="0"/>
              <a:t> </a:t>
            </a:r>
            <a:r>
              <a:rPr lang="fr-FR" sz="4000" dirty="0" err="1"/>
              <a:t>Approval</a:t>
            </a:r>
            <a:r>
              <a:rPr lang="fr-FR" sz="4000" dirty="0"/>
              <a:t> Workflow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AE0B83-9C5E-34A9-21B9-EB555C9BCD0E}"/>
              </a:ext>
            </a:extLst>
          </p:cNvPr>
          <p:cNvSpPr txBox="1">
            <a:spLocks/>
          </p:cNvSpPr>
          <p:nvPr/>
        </p:nvSpPr>
        <p:spPr>
          <a:xfrm>
            <a:off x="6096000" y="4480541"/>
            <a:ext cx="5486400" cy="164592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Dolsom BOUDA​</a:t>
            </a:r>
          </a:p>
          <a:p>
            <a:r>
              <a:rPr lang="en-US"/>
              <a:t>041246719</a:t>
            </a:r>
          </a:p>
          <a:p>
            <a:r>
              <a:rPr lang="en-US"/>
              <a:t>Algonquin College</a:t>
            </a:r>
          </a:p>
          <a:p>
            <a:r>
              <a:rPr lang="en-US"/>
              <a:t>Cloud Development &amp; Operations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699C0A3-C055-EBFA-0CF7-1A0EB9667995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178986724"/>
              </p:ext>
            </p:extLst>
          </p:nvPr>
        </p:nvGraphicFramePr>
        <p:xfrm>
          <a:off x="562154" y="2432649"/>
          <a:ext cx="11067692" cy="398220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5533846">
                  <a:extLst>
                    <a:ext uri="{9D8B030D-6E8A-4147-A177-3AD203B41FA5}">
                      <a16:colId xmlns:a16="http://schemas.microsoft.com/office/drawing/2014/main" val="2891714365"/>
                    </a:ext>
                  </a:extLst>
                </a:gridCol>
                <a:gridCol w="5533846">
                  <a:extLst>
                    <a:ext uri="{9D8B030D-6E8A-4147-A177-3AD203B41FA5}">
                      <a16:colId xmlns:a16="http://schemas.microsoft.com/office/drawing/2014/main" val="2673035039"/>
                    </a:ext>
                  </a:extLst>
                </a:gridCol>
              </a:tblGrid>
              <a:tr h="557020">
                <a:tc>
                  <a:txBody>
                    <a:bodyPr/>
                    <a:lstStyle/>
                    <a:p>
                      <a:r>
                        <a:rPr lang="fr-FR" sz="1800" b="1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Rule</a:t>
                      </a:r>
                      <a:endParaRPr lang="fr-FR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fr-FR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547085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Employee name, email, amount, category, description, manager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1668416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Validation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Reject missing fields or invalid category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5183369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Auto-Approve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Amount &lt; $100 → approved immediately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6768002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Manager Approval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Amount ≥ $100 → wait for manager decision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3429331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Timeout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response in 2 min → escalated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0828472"/>
                  </a:ext>
                </a:extLst>
              </a:tr>
              <a:tr h="5570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Notification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Employee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receives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email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with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final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outcome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40605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Version A — Durable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(Code-First)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380" y="2281238"/>
            <a:ext cx="5981719" cy="3700462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marL="0" indent="0">
              <a:buNone/>
            </a:pP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Design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Decisions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v2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programming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model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Human Interaction pattern: </a:t>
            </a:r>
          </a:p>
          <a:p>
            <a:pPr marL="0" indent="0">
              <a:buNone/>
            </a:pP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wait_for_external_event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 + 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create_timer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+ 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task_any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orchestration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single 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function_app.py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2-minute durable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escalation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orme libre 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1" name="Forme libre 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2" name="Forme libre 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B91B2815-F6B1-1080-59CC-47BAA0B99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99" y="2536325"/>
            <a:ext cx="4860586" cy="357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60407-F933-C5A4-B56D-55D404981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623CC650-F4A3-AAAE-A4DB-6EA605DA9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Version B — Logic Apps + Service Bus (Visual/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Declarative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6CE0FC7F-991A-089E-5BCC-14D21963900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9532" y="2281238"/>
            <a:ext cx="5938568" cy="3700462"/>
          </a:xfrm>
        </p:spPr>
        <p:txBody>
          <a:bodyPr rtlCol="0">
            <a:normAutofit/>
          </a:bodyPr>
          <a:lstStyle>
            <a:defPPr>
              <a:defRPr lang="fr-FR"/>
            </a:defPPr>
          </a:lstStyle>
          <a:p>
            <a:pPr marL="0" indent="0">
              <a:buNone/>
            </a:pP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Design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Decisions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Bus queue as entry point (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decouples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submission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 App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branching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visually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Approval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Email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connector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manager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approval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built-in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Reject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buttons)</a:t>
            </a: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filtered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topic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subscriptions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outcome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routing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validation</a:t>
            </a: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FD374E58-3357-4739-ED47-1A2F6CC20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orme libre 19">
              <a:extLst>
                <a:ext uri="{FF2B5EF4-FFF2-40B4-BE49-F238E27FC236}">
                  <a16:creationId xmlns:a16="http://schemas.microsoft.com/office/drawing/2014/main" id="{C345601B-9F79-AC2C-0A0F-72334C7AC037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1" name="Forme libre 20">
              <a:extLst>
                <a:ext uri="{FF2B5EF4-FFF2-40B4-BE49-F238E27FC236}">
                  <a16:creationId xmlns:a16="http://schemas.microsoft.com/office/drawing/2014/main" id="{6DC32339-E0FA-6037-E4E8-C8FB4DFF45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22" name="Forme libre 21">
              <a:extLst>
                <a:ext uri="{FF2B5EF4-FFF2-40B4-BE49-F238E27FC236}">
                  <a16:creationId xmlns:a16="http://schemas.microsoft.com/office/drawing/2014/main" id="{4F5CA721-F7B0-B396-5179-24EE279C7E4D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E8CABC1-C98A-546A-63B9-7A162292D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56" y="2281238"/>
            <a:ext cx="4616827" cy="401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29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Side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-by-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Side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27ACCCE1-FA9C-1732-AB04-6507BF8450A1}"/>
              </a:ext>
            </a:extLst>
          </p:cNvPr>
          <p:cNvGraphicFramePr>
            <a:graphicFrameLocks noGrp="1"/>
          </p:cNvGraphicFramePr>
          <p:nvPr>
            <p:ph sz="quarter" idx="15"/>
            <p:extLst>
              <p:ext uri="{D42A27DB-BD31-4B8C-83A1-F6EECF244321}">
                <p14:modId xmlns:p14="http://schemas.microsoft.com/office/powerpoint/2010/main" val="2059469795"/>
              </p:ext>
            </p:extLst>
          </p:nvPr>
        </p:nvGraphicFramePr>
        <p:xfrm>
          <a:off x="593725" y="2676524"/>
          <a:ext cx="11165139" cy="377240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3721713">
                  <a:extLst>
                    <a:ext uri="{9D8B030D-6E8A-4147-A177-3AD203B41FA5}">
                      <a16:colId xmlns:a16="http://schemas.microsoft.com/office/drawing/2014/main" val="3668613980"/>
                    </a:ext>
                  </a:extLst>
                </a:gridCol>
                <a:gridCol w="3721713">
                  <a:extLst>
                    <a:ext uri="{9D8B030D-6E8A-4147-A177-3AD203B41FA5}">
                      <a16:colId xmlns:a16="http://schemas.microsoft.com/office/drawing/2014/main" val="2156163316"/>
                    </a:ext>
                  </a:extLst>
                </a:gridCol>
                <a:gridCol w="3721713">
                  <a:extLst>
                    <a:ext uri="{9D8B030D-6E8A-4147-A177-3AD203B41FA5}">
                      <a16:colId xmlns:a16="http://schemas.microsoft.com/office/drawing/2014/main" val="3913567398"/>
                    </a:ext>
                  </a:extLst>
                </a:gridCol>
              </a:tblGrid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Dimension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Version 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8063883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More 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complex</a:t>
                      </a: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code-first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Faster, visual designer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44281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local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Azure only, no automation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7909888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Error Handling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code control, retry policies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Portal config, visual history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4416164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Human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Native pattern, flexible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Approval connector, limited options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6124790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Observability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JSON status endpoint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Visual run history, accessible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552921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Cost (100/day)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~$0.12/month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~$10.63/month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1179124"/>
                  </a:ext>
                </a:extLst>
              </a:tr>
              <a:tr h="471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Cost (10,000/day)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~$1.20/month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~$80.31/</a:t>
                      </a:r>
                      <a:r>
                        <a:rPr lang="fr-FR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month</a:t>
                      </a:r>
                      <a:endParaRPr lang="fr-FR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1333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F658F-B067-7C5E-3D12-4A106AAF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D8DB64-FCEB-10BB-3A34-CFBC9078F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Recommendation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One for Production?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370D0-2973-A183-1B5F-4B1BCB710DB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10859703" cy="3597470"/>
          </a:xfrm>
        </p:spPr>
        <p:txBody>
          <a:bodyPr>
            <a:normAutofit fontScale="70000" lnSpcReduction="20000"/>
          </a:bodyPr>
          <a:lstStyle/>
          <a:p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Recommended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Version B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most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organizations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Pre-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connectors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email, Teams, ERP, HR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 designer accessible to non-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developers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Portal run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history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compliance and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auditing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Faster to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extend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Choose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Version A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Python-first</a:t>
            </a: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Workflow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complex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algorithmic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Cost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primary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concern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Strict version control and CI/CD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required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7957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C397D-A8C6-1CAD-A293-464ECF87B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9DA71E-2C6F-8888-63E1-E297E8F8A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fr-FR"/>
            </a:defPPr>
          </a:lstStyle>
          <a:p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Learned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74FAFB-C4E3-741B-2918-EBFDFD8B228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10859703" cy="3597470"/>
          </a:xfrm>
        </p:spPr>
        <p:txBody>
          <a:bodyPr>
            <a:normAutofit fontScale="77500" lnSpcReduction="20000"/>
          </a:bodyPr>
          <a:lstStyle/>
          <a:p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surprised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me: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Durable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orchestrators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must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deterministic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«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approval_event.result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»  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JSON string, not a dict</a:t>
            </a: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 Apps base64-encodes Service Bus messages. It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Compose action to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decode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Webhook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Logic Apps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sends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POST to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subscribe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not a GET. It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updating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accept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both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Send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Approval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Email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connector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much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building a custom callback</a:t>
            </a:r>
          </a:p>
          <a:p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would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 </a:t>
            </a:r>
            <a:r>
              <a:rPr lang="fr-FR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differently</a:t>
            </a:r>
            <a:r>
              <a:rPr lang="fr-FR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Version B to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understand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business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visually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then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port to Version A</a:t>
            </a: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 Application Insights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start for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better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telemetry</a:t>
            </a:r>
            <a:endParaRPr lang="fr-F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626364" lvl="1" indent="-342900"/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 longer timeout (15-30 min) for a </a:t>
            </a:r>
            <a:r>
              <a:rPr lang="fr-F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realistic</a:t>
            </a:r>
            <a:r>
              <a:rPr lang="fr-F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production scenario</a:t>
            </a:r>
          </a:p>
        </p:txBody>
      </p:sp>
    </p:spTree>
    <p:extLst>
      <p:ext uri="{BB962C8B-B14F-4D97-AF65-F5344CB8AC3E}">
        <p14:creationId xmlns:p14="http://schemas.microsoft.com/office/powerpoint/2010/main" val="3101026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en-US" dirty="0"/>
              <a:t>T</a:t>
            </a:r>
            <a:r>
              <a:rPr lang="fr-FR" dirty="0" err="1"/>
              <a:t>hank</a:t>
            </a:r>
            <a:r>
              <a:rPr lang="fr-FR" dirty="0"/>
              <a:t> You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E734F0-2DDD-AF70-F13D-F9E4C19294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4360" y="4549552"/>
            <a:ext cx="5486400" cy="1645920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Dolsom BOUDA​</a:t>
            </a:r>
          </a:p>
          <a:p>
            <a:pPr rtl="0"/>
            <a:r>
              <a:rPr lang="fr-FR" dirty="0"/>
              <a:t>041246719</a:t>
            </a:r>
          </a:p>
          <a:p>
            <a:pPr rtl="0"/>
            <a:r>
              <a:rPr lang="fr-FR" dirty="0"/>
              <a:t>Algonquin College</a:t>
            </a:r>
          </a:p>
          <a:p>
            <a:pPr rtl="0"/>
            <a:r>
              <a:rPr lang="fr-FR" dirty="0"/>
              <a:t>Cloud </a:t>
            </a:r>
            <a:r>
              <a:rPr lang="fr-FR" dirty="0" err="1"/>
              <a:t>Development</a:t>
            </a:r>
            <a:r>
              <a:rPr lang="fr-FR" dirty="0"/>
              <a:t> &amp; Operations</a:t>
            </a:r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2_TF78853419_Win32" id="{E939D1AD-245E-4113-B88E-E20D599B2C52}" vid="{B269D645-ADA9-4C84-B6E4-2BDC65D07C9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{444E1281-1D2E-414A-9DC2-761AB8B24078}TFd3b75063-ff25-434d-b12c-efeaf07d16c3843f2ce2_win32-4817930b7c4d</Template>
  <TotalTime>91</TotalTime>
  <Words>499</Words>
  <Application>Microsoft Office PowerPoint</Application>
  <PresentationFormat>Widescreen</PresentationFormat>
  <Paragraphs>94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Franklin Gothic Book</vt:lpstr>
      <vt:lpstr>Franklin Gothic Demi</vt:lpstr>
      <vt:lpstr>Personnalisé</vt:lpstr>
      <vt:lpstr>Final Project: Compare &amp; Contrast — Dual Implementation of an Expense Approval Workflow</vt:lpstr>
      <vt:lpstr>Introduction</vt:lpstr>
      <vt:lpstr>Version A — Durable Functions (Code-First)</vt:lpstr>
      <vt:lpstr>Version B — Logic Apps + Service Bus (Visual/Declarative)</vt:lpstr>
      <vt:lpstr> Side-by-Side Comparison</vt:lpstr>
      <vt:lpstr>Recommendation:  Which One for Production?</vt:lpstr>
      <vt:lpstr> Lessons Learned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Dolsom Bouda</dc:creator>
  <cp:lastModifiedBy>Dolsom Bouda</cp:lastModifiedBy>
  <cp:revision>1</cp:revision>
  <dcterms:created xsi:type="dcterms:W3CDTF">2026-04-21T21:08:25Z</dcterms:created>
  <dcterms:modified xsi:type="dcterms:W3CDTF">2026-04-21T22:39:55Z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