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391" r:id="rId7"/>
    <p:sldId id="411" r:id="rId8"/>
    <p:sldId id="408" r:id="rId9"/>
    <p:sldId id="412" r:id="rId10"/>
    <p:sldId id="413" r:id="rId11"/>
    <p:sldId id="398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7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21/04/2026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21/04/2026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7A45-6BEB-1EE3-599F-2445D91E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5F1C9BF-1A53-E764-FFD3-F463220FE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04A9C87-0CA5-E466-52FE-81DF471C6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199154-30ED-D0A5-6659-2942053EA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6092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C7B6-06B9-CDA8-2212-611A2B0DD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2389D0E-A258-C080-0645-90839C539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04703F5-127B-C597-4ECD-B3845AA23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80BA56-2C8F-B4B3-C4C1-D60EF5AB6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1747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851EC-C796-019F-A46E-C19AD21A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473051F-A69A-E45A-0487-BDFBA26EC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591396D-06BD-4991-3183-C15A3678B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A2334D-50C1-3098-F2A3-01624DAF4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0860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en-US"/>
              <a:t>Click icon to add table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 rtl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94227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sz="4000" dirty="0"/>
              <a:t>Final Project: Compare &amp; </a:t>
            </a:r>
            <a:r>
              <a:rPr lang="fr-FR" sz="4000" dirty="0" err="1"/>
              <a:t>Contrast</a:t>
            </a:r>
            <a:r>
              <a:rPr lang="fr-FR" sz="4000" dirty="0"/>
              <a:t> — Dual </a:t>
            </a:r>
            <a:r>
              <a:rPr lang="fr-FR" sz="4000" dirty="0" err="1"/>
              <a:t>Implementation</a:t>
            </a:r>
            <a:r>
              <a:rPr lang="fr-FR" sz="4000" dirty="0"/>
              <a:t> of an </a:t>
            </a:r>
            <a:r>
              <a:rPr lang="fr-FR" sz="4000" dirty="0" err="1"/>
              <a:t>Expense</a:t>
            </a:r>
            <a:r>
              <a:rPr lang="fr-FR" sz="4000" dirty="0"/>
              <a:t> </a:t>
            </a:r>
            <a:r>
              <a:rPr lang="fr-FR" sz="4000" dirty="0" err="1"/>
              <a:t>Approval</a:t>
            </a:r>
            <a:r>
              <a:rPr lang="fr-FR" sz="4000" dirty="0"/>
              <a:t> Workflow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AE0B83-9C5E-34A9-21B9-EB555C9BCD0E}"/>
              </a:ext>
            </a:extLst>
          </p:cNvPr>
          <p:cNvSpPr txBox="1">
            <a:spLocks/>
          </p:cNvSpPr>
          <p:nvPr/>
        </p:nvSpPr>
        <p:spPr>
          <a:xfrm>
            <a:off x="6096000" y="4480541"/>
            <a:ext cx="5486400" cy="164592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Dolsom BOUDA​</a:t>
            </a:r>
          </a:p>
          <a:p>
            <a:r>
              <a:rPr lang="en-US"/>
              <a:t>041246719</a:t>
            </a:r>
          </a:p>
          <a:p>
            <a:r>
              <a:rPr lang="en-US"/>
              <a:t>Algonquin College</a:t>
            </a:r>
          </a:p>
          <a:p>
            <a:r>
              <a:rPr lang="en-US"/>
              <a:t>Cloud Development &amp;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b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Rules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699C0A3-C055-EBFA-0CF7-1A0EB966799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78986724"/>
              </p:ext>
            </p:extLst>
          </p:nvPr>
        </p:nvGraphicFramePr>
        <p:xfrm>
          <a:off x="562154" y="2432649"/>
          <a:ext cx="11067692" cy="39822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533846">
                  <a:extLst>
                    <a:ext uri="{9D8B030D-6E8A-4147-A177-3AD203B41FA5}">
                      <a16:colId xmlns:a16="http://schemas.microsoft.com/office/drawing/2014/main" val="2891714365"/>
                    </a:ext>
                  </a:extLst>
                </a:gridCol>
                <a:gridCol w="5533846">
                  <a:extLst>
                    <a:ext uri="{9D8B030D-6E8A-4147-A177-3AD203B41FA5}">
                      <a16:colId xmlns:a16="http://schemas.microsoft.com/office/drawing/2014/main" val="2673035039"/>
                    </a:ext>
                  </a:extLst>
                </a:gridCol>
              </a:tblGrid>
              <a:tr h="557020">
                <a:tc>
                  <a:txBody>
                    <a:bodyPr/>
                    <a:lstStyle/>
                    <a:p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</a:t>
                      </a:r>
                      <a:endParaRPr lang="fr-F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fr-F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547085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Employee name, email, amount, category, description, manager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668416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Reject missing fields or invalid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183369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Auto-Approve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Amount &lt; $100 → approved immediately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768002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Manager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Amount ≥ $100 → wait for manager 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429331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response in 2 min → escalated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828472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Employee</a:t>
                      </a: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receives</a:t>
                      </a: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email </a:t>
                      </a:r>
                      <a:r>
                        <a:rPr lang="fr-FR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with</a:t>
                      </a: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final </a:t>
                      </a:r>
                      <a:r>
                        <a:rPr lang="fr-FR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outcome</a:t>
                      </a:r>
                      <a:endParaRPr lang="fr-FR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60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A — Durable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(Code-First)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80" y="2281238"/>
            <a:ext cx="5981719" cy="3700462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Design </a:t>
            </a:r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v2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Interaction pattern: </a:t>
            </a: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wait_for_external_event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 + </a:t>
            </a:r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create_timer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+ </a:t>
            </a:r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task_any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orchestration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single function_app.py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2-minute durable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escalation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91B2815-F6B1-1080-59CC-47BAA0B99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99" y="2536325"/>
            <a:ext cx="4860586" cy="357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0407-F933-C5A4-B56D-55D40498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23CC650-F4A3-AAAE-A4DB-6EA605DA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B — Logic Apps + Service Bus (Visual/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Declarative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CE0FC7F-991A-089E-5BCC-14D2196390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9532" y="2281238"/>
            <a:ext cx="5938568" cy="3700462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Design </a:t>
            </a:r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Bus queue as entry point (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decouples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 App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branching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visually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Approval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Email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connector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manager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approval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built-in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buttons)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filtered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topic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subscriptions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Azure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validation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D374E58-3357-4739-ED47-1A2F6CC20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C345601B-9F79-AC2C-0A0F-72334C7AC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6DC32339-E0FA-6037-E4E8-C8FB4DFF4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4F5CA721-F7B0-B396-5179-24EE279C7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E8CABC1-C98A-546A-63B9-7A162292D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56" y="2281238"/>
            <a:ext cx="4616827" cy="401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9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-by-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7ACCCE1-FA9C-1732-AB04-6507BF8450A1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059469795"/>
              </p:ext>
            </p:extLst>
          </p:nvPr>
        </p:nvGraphicFramePr>
        <p:xfrm>
          <a:off x="593725" y="2676524"/>
          <a:ext cx="11165139" cy="37724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721713">
                  <a:extLst>
                    <a:ext uri="{9D8B030D-6E8A-4147-A177-3AD203B41FA5}">
                      <a16:colId xmlns:a16="http://schemas.microsoft.com/office/drawing/2014/main" val="3668613980"/>
                    </a:ext>
                  </a:extLst>
                </a:gridCol>
                <a:gridCol w="3721713">
                  <a:extLst>
                    <a:ext uri="{9D8B030D-6E8A-4147-A177-3AD203B41FA5}">
                      <a16:colId xmlns:a16="http://schemas.microsoft.com/office/drawing/2014/main" val="2156163316"/>
                    </a:ext>
                  </a:extLst>
                </a:gridCol>
                <a:gridCol w="3721713">
                  <a:extLst>
                    <a:ext uri="{9D8B030D-6E8A-4147-A177-3AD203B41FA5}">
                      <a16:colId xmlns:a16="http://schemas.microsoft.com/office/drawing/2014/main" val="3913567398"/>
                    </a:ext>
                  </a:extLst>
                </a:gridCol>
              </a:tblGrid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063883"/>
                  </a:ext>
                </a:extLst>
              </a:tr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More </a:t>
                      </a:r>
                      <a:r>
                        <a:rPr lang="fr-FR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complex</a:t>
                      </a: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code-first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Faster, visual designer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44281"/>
                  </a:ext>
                </a:extLst>
              </a:tr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local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Azure only, no automation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909888"/>
                  </a:ext>
                </a:extLst>
              </a:tr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code control, retry policies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Portal config, visual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416164"/>
                  </a:ext>
                </a:extLst>
              </a:tr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Human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Native pattern, 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Approval connector, limited options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124790"/>
                  </a:ext>
                </a:extLst>
              </a:tr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Observability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JSON status 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Visual run history, accessible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552921"/>
                  </a:ext>
                </a:extLst>
              </a:tr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 (100/day)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~$0.12/month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~$10.63/month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179124"/>
                  </a:ext>
                </a:extLst>
              </a:tr>
              <a:tr h="471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 (10,000/day)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~$1.20/month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~$80.31/</a:t>
                      </a:r>
                      <a:r>
                        <a:rPr lang="fr-FR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</a:t>
                      </a:r>
                      <a:endParaRPr lang="fr-FR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713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F658F-B067-7C5E-3D12-4A106AAF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8DB64-FCEB-10BB-3A34-CFBC9078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 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 for Production?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370D0-2973-A183-1B5F-4B1BCB710DB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859703" cy="3597470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Recommended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Version B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connectors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email, Teams, ERP, HR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designer accessible to non-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 run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compliance and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auditing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to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Version A </a:t>
            </a:r>
            <a:r>
              <a:rPr lang="fr-F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Python-first</a:t>
            </a: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algorithmic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concern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26364" lvl="1" indent="-34290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Strict version control and CI/CD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95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C397D-A8C6-1CAD-A293-464ECF87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9DA71E-2C6F-8888-63E1-E297E8F8A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Learned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4FAFB-C4E3-741B-2918-EBFDFD8B228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859703" cy="35974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surprised me:</a:t>
            </a:r>
            <a:endParaRPr lang="en-US" sz="1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69214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1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Durable Functions are deceptively strict</a:t>
            </a:r>
          </a:p>
          <a:p>
            <a:pPr marL="569214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1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 Apps hides complexity behind simplicity</a:t>
            </a:r>
          </a:p>
          <a:p>
            <a:pPr marL="569214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1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Human Interaction pattern is not free in either version </a:t>
            </a:r>
          </a:p>
          <a:p>
            <a:pPr marL="569214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1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is not obvious until you look </a:t>
            </a:r>
          </a:p>
          <a:p>
            <a:pPr marL="569214" lvl="1" indent="-285750">
              <a:lnSpc>
                <a:spcPct val="100000"/>
              </a:lnSpc>
              <a:spcBef>
                <a:spcPts val="0"/>
              </a:spcBef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69214" lvl="1" indent="-285750">
              <a:lnSpc>
                <a:spcPct val="100000"/>
              </a:lnSpc>
              <a:spcBef>
                <a:spcPts val="0"/>
              </a:spcBef>
            </a:pPr>
            <a:endParaRPr lang="en-US" sz="1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would do differently:</a:t>
            </a:r>
            <a:endParaRPr lang="en-US" sz="1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Version B first to validate the business logic visually, then implement Version A with full confidence in the expected behavior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Application Insights from day one: Diagnosing cold start issues and orchestration replays without telemetry cost significant time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realistic timeout (15-30 minutes) for production.</a:t>
            </a:r>
          </a:p>
        </p:txBody>
      </p:sp>
    </p:spTree>
    <p:extLst>
      <p:ext uri="{BB962C8B-B14F-4D97-AF65-F5344CB8AC3E}">
        <p14:creationId xmlns:p14="http://schemas.microsoft.com/office/powerpoint/2010/main" val="3101026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T</a:t>
            </a:r>
            <a:r>
              <a:rPr lang="fr-FR" dirty="0" err="1"/>
              <a:t>hank</a:t>
            </a:r>
            <a:r>
              <a:rPr lang="fr-FR" dirty="0"/>
              <a:t> You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Dolsom BOUDA​</a:t>
            </a:r>
          </a:p>
          <a:p>
            <a:pPr rtl="0"/>
            <a:r>
              <a:rPr lang="fr-FR" dirty="0"/>
              <a:t>041246719</a:t>
            </a:r>
          </a:p>
          <a:p>
            <a:pPr rtl="0"/>
            <a:r>
              <a:rPr lang="fr-FR" dirty="0"/>
              <a:t>Algonquin College</a:t>
            </a:r>
          </a:p>
          <a:p>
            <a:pPr rtl="0"/>
            <a:r>
              <a:rPr lang="fr-FR" dirty="0"/>
              <a:t>Cloud </a:t>
            </a:r>
            <a:r>
              <a:rPr lang="fr-FR" dirty="0" err="1"/>
              <a:t>Development</a:t>
            </a:r>
            <a:r>
              <a:rPr lang="fr-FR" dirty="0"/>
              <a:t> &amp; Operations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{444E1281-1D2E-414A-9DC2-761AB8B24078}TFd3b75063-ff25-434d-b12c-efeaf07d16c3843f2ce2_win32-4817930b7c4d</Template>
  <TotalTime>291</TotalTime>
  <Words>472</Words>
  <Application>Microsoft Office PowerPoint</Application>
  <PresentationFormat>Widescreen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Personnalisé</vt:lpstr>
      <vt:lpstr>Final Project: Compare &amp; Contrast — Dual Implementation of an Expense Approval Workflow</vt:lpstr>
      <vt:lpstr>Introduction Business Rules</vt:lpstr>
      <vt:lpstr>Version A — Durable Functions (Code-First)</vt:lpstr>
      <vt:lpstr>Version B — Logic Apps + Service Bus (Visual/Declarative)</vt:lpstr>
      <vt:lpstr> Side-by-Side Comparison</vt:lpstr>
      <vt:lpstr>Recommendation:  Which One for Production?</vt:lpstr>
      <vt:lpstr> Lessons Learned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Dolsom Bouda</dc:creator>
  <cp:lastModifiedBy>Dolsom Bouda</cp:lastModifiedBy>
  <cp:revision>5</cp:revision>
  <dcterms:created xsi:type="dcterms:W3CDTF">2026-04-21T21:08:25Z</dcterms:created>
  <dcterms:modified xsi:type="dcterms:W3CDTF">2026-04-22T02:00:12Z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